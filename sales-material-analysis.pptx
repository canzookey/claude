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Yu Gothic"/>
              </a:defRPr>
            </a:pPr>
            <a:r>
              <a:t>SaaS事業計画書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Yu Gothic"/>
              </a:defRPr>
            </a:pPr>
            <a:r>
              <a:t>営業資料 分析レポート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中小企業向けクラウドベース業務効率化SaaSプラットフォーム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分析日: 2026年2月25日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対象資料: saas-business-plan.md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1. 総合評価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各評価項目のサマリー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713232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評価項目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評価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コメント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事業構想・ビジョン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明確で市場ニーズに合致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市場分析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B+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概要は良いが、競合分析の具体性に課題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プロダクト戦略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A-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フェーズ分けが適切、技術選定も妥当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財務計画の整合性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B-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複数の数値不整合あり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ユニットエコノミクス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C+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CACの算出に重大な矛盾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営業・マーケ戦略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方向性は正しいが具体性不足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リスク管理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主要リスクはカバー、対策の具体性に改善余地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02920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最大の強み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9E5A"/>
                </a:solidFill>
                <a:latin typeface="Yu Gothic"/>
              </a:defRPr>
            </a:pPr>
            <a:r>
              <a:t>日本市場最適化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請求書・見積書・稟議対応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02920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最大の課題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3E3E"/>
                </a:solidFill>
                <a:latin typeface="Yu Gothic"/>
              </a:defRPr>
            </a:pPr>
            <a:r>
              <a:t>CAC過小評価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897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実コストと最大2.4倍の乖離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5029200"/>
            <a:ext cx="39319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166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総合判断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440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Yu Gothic"/>
              </a:defRPr>
            </a:pPr>
            <a:r>
              <a:t>修正3点で投資家提示可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8978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ARR/実収益区別、CAC再計算、調達計画整合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2. 財務整合性チェック① — ARR vs 顧客数 x ARPU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期末ARRと顧客構造の整合を検証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年度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顧客数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ARPU（月額）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算出ARR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記載ARR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200社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¥50,000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1.2億円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1.2億円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700社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¥57,000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4.788億円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4.8億円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1,500社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¥67,000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12.06億円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12億円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566160"/>
            <a:ext cx="10972800" cy="54864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621024"/>
            <a:ext cx="10972800" cy="2743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03E3E"/>
                </a:solidFill>
                <a:latin typeface="Yu Gothic"/>
              </a:defRPr>
            </a:pPr>
            <a:r>
              <a:t>問題: ARRと年間実収益の混同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3E3E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1B1B2F"/>
                </a:solidFill>
                <a:latin typeface="Yu Gothic"/>
              </a:defRPr>
            </a:pPr>
            <a:r>
              <a:t>売上合計（1年目: 1.2億円）が期末ARR（ランレート）と同額になっている。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B1B2F"/>
                </a:solidFill>
                <a:latin typeface="Yu Gothic"/>
              </a:defRPr>
            </a:pPr>
            <a:r>
              <a:t>顧客は年間を通じて段階的に獲得するため、年間の実収益はARRより大幅に低くなる。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B1B2F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373D4E"/>
                </a:solidFill>
                <a:latin typeface="Yu Gothic"/>
              </a:defRPr>
            </a:pPr>
            <a:r>
              <a:t>  月次15%成長で1年目末200社到達の場合: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73D4E"/>
                </a:solidFill>
                <a:latin typeface="Yu Gothic"/>
              </a:defRPr>
            </a:pPr>
            <a:r>
              <a:t>  ・期初顧客数: 約37社 → 実サブスクリプション収益: 約0.54億円（記載1.0億円の約54%）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B1B2F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2D5BE3"/>
                </a:solidFill>
                <a:latin typeface="Yu Gothic"/>
              </a:defRPr>
            </a:pPr>
            <a:r>
              <a:t>提言: 売上計画にはARR（期末ランレート）と実収益（年間累積）を別行で明記すべき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2. 財務整合性チェック② — 損益計画とキャッシュフロー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粗利益・営業利益・キャッシュフローの計算検証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損益計画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売上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1.2億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4.8億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12.0億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売上原価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0.3億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0.6億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1.2億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粗利益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0.9億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4.2億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10.8億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粗利率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87.5%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営業費用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3.3億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6.5億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10.8億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営業利益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-2.4億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-2.3億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OK 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キャッシュフロー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4592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期首キャッシュ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1.0億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3.6億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6.3億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営業CF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-2.4億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-2.3億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資金調達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5.0億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5.0億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15.0億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期末キャッシュ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3.6億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6.3億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21.3億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4206240"/>
            <a:ext cx="5212080" cy="36576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242816"/>
            <a:ext cx="5212080" cy="137160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976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8D2A"/>
                </a:solidFill>
                <a:latin typeface="Yu Gothic"/>
              </a:defRPr>
            </a:pPr>
            <a:r>
              <a:t>注意: 2年目の調達5.0億円の出所不明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調達計画にはシリーズA（1年目末5億）と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シリーズB（3年目15億）のみ記載。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2年目の5億円が未説明。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5486400" cy="1371600"/>
          </a:xfrm>
          <a:prstGeom prst="rect">
            <a:avLst/>
          </a:prstGeom>
          <a:solidFill>
            <a:srgbClr val="EC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9E5A"/>
                </a:solidFill>
                <a:latin typeface="Yu Gothic"/>
              </a:defRPr>
            </a:pPr>
            <a:r>
              <a:t>計算整合: すべてOK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・費用内訳の合計 → 費用合計: 整合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・粗利益 = 売上 - 売上原価: 整合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・営業利益 = 粗利益 - 営業費用: 整合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・CF = 期首 + 営業CF + 調達: 整合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・人件費単価 1,000万円/人（全年度）: 妥当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3. ユニットエコノミクス — CACの重大な不整合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本レポートで最も重要な指摘事項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マーケティング費用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0.8億円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1.5億円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2.4億円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セールス人件費（推定）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0.3億円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0.8億円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1.5億円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獲得費用合計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1.1億円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2.3億円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3.9億円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新規顧客数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800社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実質CAC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46万円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49万円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記載CAC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30万円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25万円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20万円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乖離率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+83%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+84%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+144%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修正後のユニットエコノミクス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7373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1年目 LTV/CAC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3E3E"/>
                </a:solidFill>
                <a:latin typeface="Yu Gothic"/>
              </a:defRPr>
            </a:pPr>
            <a:r>
              <a:t>2.2x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記載: 4.0x → 大幅低下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7373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1年目 CAC回収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3E3E"/>
                </a:solidFill>
                <a:latin typeface="Yu Gothic"/>
              </a:defRPr>
            </a:pPr>
            <a:r>
              <a:t>11ヶ月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記載: 6ヶ月 → ほぼ倍増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1089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2年目 LTV/CAC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8D2A"/>
                </a:solidFill>
                <a:latin typeface="Yu Gothic"/>
              </a:defRPr>
            </a:pPr>
            <a:r>
              <a:t>3.7x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記載: 6.8x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1089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3年目 LTV/CAC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8D2A"/>
                </a:solidFill>
                <a:latin typeface="Yu Gothic"/>
              </a:defRPr>
            </a:pPr>
            <a:r>
              <a:t>5.5x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記載: 13.4x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12080"/>
            <a:ext cx="10972800" cy="3657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248656"/>
            <a:ext cx="10972800" cy="10972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03E3E"/>
                </a:solidFill>
                <a:latin typeface="Yu Gothic"/>
              </a:defRPr>
            </a:pPr>
            <a:r>
              <a:t>影響と提言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修正後も2年目以降はLTV/CAC &gt; 3xを達成可能だが、1年目は2.2xと投資効率に課題が残る。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CACは実際のマーケティング費用＋セールス人件費から算出し直すか、PLG経由の自然獲得分を除外した「有償CAC」として明記すべき。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3. ユニットエコノミクス — LTV・解約率・CAC回収期間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LTV算出の妥当性と関連指標の検証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年度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月次解約率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平均寿命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単純LTV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記載LTV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推定割引率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33.3ヶ月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167万円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年率約14%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50.0ヶ月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285万円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171万円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年率約16%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66.7ヶ月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447万円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268万円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年率約16%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49039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CAC回収期間 = CAC ÷ ARPU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6.0ヶ月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4.4ヶ月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3.0ヶ月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計算OK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LTV/CAC比率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4.0x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6.8x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13.4x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計算OK ✓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212080"/>
            <a:ext cx="10972800" cy="1188720"/>
          </a:xfrm>
          <a:prstGeom prst="rect">
            <a:avLst/>
          </a:prstGeom>
          <a:solidFill>
            <a:srgbClr val="EC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9E5A"/>
                </a:solidFill>
                <a:latin typeface="Yu Gothic"/>
              </a:defRPr>
            </a:pPr>
            <a:r>
              <a:t>評価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LTVはディスカウントレート込みで保守的に計算されており、算出方法自体は妥当。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ただし、解約率を3.0%→1.5%へ改善する具体的なCS施策のKPI（ヘルススコア閾値、介入タイミング等）が未記載。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NRR 105%→125%を支えるアップセル/クロスセル施策とプラン移行率の想定も追加が必要。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4. 営業・マーケティング戦略分析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GTM戦略、予算配分、セールス生産性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2103120"/>
          </a:xfrm>
          <a:prstGeom prst="rect">
            <a:avLst/>
          </a:prstGeom>
          <a:solidFill>
            <a:srgbClr val="EC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9E5A"/>
                </a:solidFill>
                <a:latin typeface="Yu Gothic"/>
              </a:defRPr>
            </a:pPr>
            <a:r>
              <a:t>GTM戦略の強み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・PLG→セールス→エンタープライズの段階的展開はSaaSの王道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・パートナーチャネル（SIer、税理士事務所）は中小企業リーチに有効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・フリープランによるリード獲得は正しいアプローチ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・デジタル広告の段階的縮小（40%→20%）はPLG成熟に伴う自然な移行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2103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03E3E"/>
                </a:solidFill>
                <a:latin typeface="Yu Gothic"/>
              </a:defRPr>
            </a:pPr>
            <a:r>
              <a:t>課題・不足点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・Free→Paid転換率の目標が未記載（一般的には2-5%）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・フリープランの必要ユーザー獲得数が不明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・PLGを謳いつつ1年目デジタル広告40%はセールス寄り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・パートナーの立ち上げ時期と具体的提携数の目標なし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セールスチーム生産性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1年目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2年目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3年目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セールス人数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3名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8名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15名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新規顧客数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200社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800社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1人あたり獲得数/年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67社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63社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53社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1人あたり獲得数/月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5.6社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5.2社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4.4社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0" y="4114800"/>
            <a:ext cx="5212080" cy="20116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分析コメント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B1B2F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1年目の月5.6社/人はSMB向けSaaSとして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高い水準。PLGインバウンドリードの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十分な供給が前提条件。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1B1B2F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3年目の生産性低下はエンタープライズ案件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増加によるものと推測され、現実的。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5. 競合・市場ポジショニング評価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市場機会の妥当性と差別化の持続性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TAM（国内SaaS市場）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Yu Gothic"/>
              </a:defRPr>
            </a:pPr>
            <a:r>
              <a:t>1.8兆円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年率13%成長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SAM（10-300名企業）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Yu Gothic"/>
              </a:defRPr>
            </a:pPr>
            <a:r>
              <a:t>800億円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ターゲット定義明確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3年目ARR/SAM比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9E5A"/>
                </a:solidFill>
                <a:latin typeface="Yu Gothic"/>
              </a:defRPr>
            </a:pPr>
            <a:r>
              <a:t>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達成可能な範囲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Yu Gothic"/>
              </a:defRPr>
            </a:pPr>
            <a:r>
              <a:t>年間市場成長率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691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9E5A"/>
                </a:solidFill>
                <a:latin typeface="Yu Gothic"/>
              </a:defRPr>
            </a:pPr>
            <a:r>
              <a:t>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Yu Gothic"/>
              </a:defRPr>
            </a:pPr>
            <a:r>
              <a:t>追い風の市場環境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2F"/>
                </a:solidFill>
                <a:latin typeface="Yu Gothic"/>
              </a:defRPr>
            </a:pPr>
            <a:r>
              <a:t>差別化要素の持続性評価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2004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6858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差別化要素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持続性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コメント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オールインワン統合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大手が統合を進めると優位性低下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AI搭載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低〜中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全社がAI統合を進めており差別化は短命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価格競争力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価格競争は消耗戦リスク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日本市場最適化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B1B2F"/>
                          </a:solidFill>
                          <a:latin typeface="Yu Gothic"/>
                        </a:defRPr>
                      </a:pPr>
                      <a:r>
                        <a:t>商習慣対応は参入障壁として有効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48640" y="5486400"/>
            <a:ext cx="10972800" cy="100584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8D2A"/>
                </a:solidFill>
                <a:latin typeface="Yu Gothic"/>
              </a:defRPr>
            </a:pPr>
            <a:r>
              <a:t>競合分析の改善点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B1B2F"/>
                </a:solidFill>
                <a:latin typeface="Yu Gothic"/>
              </a:defRPr>
            </a:pPr>
            <a:r>
              <a:t>・A社/B社/C社が匿名 → 投資家への説得力が弱い　・具体的な料金比較がない　・スイッチングコスト分析がない　・海外SaaS（Notion, Monday.com, HubSpot等）の日本参入リスクへの言及なし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Yu Gothic"/>
              </a:defRPr>
            </a:pPr>
            <a:r>
              <a:t>6. 重要な指摘事項と改善提案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Yu Gothic"/>
              </a:defRPr>
            </a:pPr>
            <a:r>
              <a:t>投資家提示前に対応すべき項目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73152" cy="18288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280160"/>
            <a:ext cx="10972800" cy="1828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E03E3E"/>
                </a:solidFill>
                <a:latin typeface="Yu Gothic"/>
              </a:defRPr>
            </a:pPr>
            <a:r>
              <a:t>要修正 — Critical（3件）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E03E3E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1. ARRと年間実収益の混同  — 売上計画1年目1.2億円がARR（期末ランレート）と一致するが、実収益は約0.5-0.7億円。ARRと実収益を別行で表記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2. CACの過小評価  — 記載CACとマーケ・セールス費用の逆算値に最大2.4倍の乖離。実コスト構造に基づくCAC再計算が必要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3. 2年目キャッシュフローの調達額  — CF表に2年目5.0億円の調達記載があるが、調達計画には該当ラウンドなし。出所を明記すべき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73152" cy="219456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3383280"/>
            <a:ext cx="10972800" cy="219456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E88D2A"/>
                </a:solidFill>
                <a:latin typeface="Yu Gothic"/>
              </a:defRPr>
            </a:pPr>
            <a:r>
              <a:t>要改善 — Important（5件）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E88D2A"/>
                </a:solidFill>
                <a:latin typeface="Yu Gothic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4. フリープラン転換率の未設定  — PLG戦略の基盤指標として、Free→Paid転換率（例: 3-5%）と必要フリーユーザー数を明記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5. NRRの達成根拠不足  — NRR 105%→125%を支えるアップセル/クロスセル施策とプラン移行率の想定を追加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6. 解約率改善の根拠不足  — 月次3.0%→1.5%への改善を支えるCS施策のKPIを追加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7. 競合の実名記載  — 投資家向け資料では具体的な競合名と定量的比較が必要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8. シリーズB 15億円の使途不明  — 損益分岐点到達後の調達意図（海外展開、M&amp;A等）を明記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52160"/>
            <a:ext cx="73152" cy="731520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5852160"/>
            <a:ext cx="10972800" cy="7315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D5BE3"/>
                </a:solidFill>
                <a:latin typeface="Yu Gothic"/>
              </a:defRPr>
            </a:pPr>
            <a:r>
              <a:t>推奨追加項目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B1B2F"/>
                </a:solidFill>
                <a:latin typeface="Yu Gothic"/>
              </a:defRPr>
            </a:pPr>
            <a:r>
              <a:t>コホート分析フレームワーク ／ セールスファネル転換率 ／ NPS・CSAT目標 ／ 海外SaaS競合動向 ／ 技術的参入障壁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7. 総括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中小企業向け統合SaaSという市場ニーズに即した魅力的な事業構想を持ち、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Yu Gothic"/>
              </a:defRPr>
            </a:pPr>
            <a:r>
              <a:t>プロダクトのフェーズ分けや技術選定は適切です。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B4D8"/>
                </a:solidFill>
                <a:latin typeface="Yu Gothic"/>
              </a:defRPr>
            </a:pPr>
            <a:r>
              <a:t>投資家・ステークホルダーへの提示前に、以下の3点の修正が必須です。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3108960" cy="22860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ARRと実収益の区別を明確化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Yu Gothic"/>
              </a:defRPr>
            </a:pPr>
            <a:r>
              <a:t>売上計画にARR（期末ランレート）と</a:t>
            </a:r>
            <a:br/>
            <a:r>
              <a:t>年間実収益を別行で記載し、信頼性を確保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657600"/>
            <a:ext cx="3108960" cy="22860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CACを実コスト構造に基づいて再計算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97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Yu Gothic"/>
              </a:defRPr>
            </a:pPr>
            <a:r>
              <a:t>マーケ費用＋セールス人件費から算出し</a:t>
            </a:r>
            <a:br/>
            <a:r>
              <a:t>ユニットエコノミクス全体を修正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657600"/>
            <a:ext cx="3108960" cy="2286000"/>
          </a:xfrm>
          <a:prstGeom prst="rect">
            <a:avLst/>
          </a:prstGeom>
          <a:solidFill>
            <a:srgbClr val="2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2年目の資金調達計画の矛盾を解消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97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Yu Gothic"/>
              </a:defRPr>
            </a:pPr>
            <a:r>
              <a:t>CF表の2年目調達5億円の出所を明記、</a:t>
            </a:r>
            <a:br/>
            <a:r>
              <a:t>または調達計画にラウンドを追加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Yu Gothic"/>
              </a:defRPr>
            </a:pPr>
            <a:r>
              <a:t>これらを修正した上で、PLGの転換率想定やNRR達成施策を補強することで、投資家に対する説得力のある計画書になります。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